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D9488"/>
                </a:solidFill>
              </a:defRPr>
            </a:pPr>
            <a:r>
              <a:t>TECHNICAL ARCHITECTURE &amp; DEVELOPMENT APPROACH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Document Intelligence &amp; Financial Validation Platform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End-to-End Extraction, Binary-Free OCR, Financial Reconciliation &amp; 50-Document Evaluation</a:t>
            </a:r>
          </a:p>
          <a:p>
            <a:pPr>
              <a:defRPr sz="1200">
                <a:solidFill>
                  <a:srgbClr val="0D9488"/>
                </a:solidFill>
              </a:defRPr>
            </a:pPr>
            <a:r>
              <a:t>Model: Groq (Qwen 2.5 27B)  |  Benchmark: 94.00% PASS Rate (47/50 Documents)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Summary: Pipeline Transformation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0B981"/>
                </a:solidFill>
              </a:defRPr>
            </a:pPr>
            <a:r>
              <a:t>94.00%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Overall Pass Rate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47 / 50 real-world documents fully validated across all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0D9488"/>
                </a:solidFill>
              </a:defRPr>
            </a:pPr>
            <a:r>
              <a:t>100.0%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P&amp;L Statements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10 / 10 Bank &amp; Corporate statements (Confidence jumped from 12.5% to 90.5%)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2563EB"/>
                </a:solidFill>
              </a:defRPr>
            </a:pPr>
            <a:r>
              <a:t>100.0%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Balance Sheets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10 / 10 multi-period balance sheets validated with zero discrepancies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0B981"/>
                </a:solidFill>
              </a:defRPr>
            </a:pPr>
            <a:r>
              <a:t>155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Checks Passed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Total financial reconciliation checks passed with zero tolerance violations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Key Engineering Achievements</a:t>
            </a:r>
          </a:p>
          <a:p>
            <a:pPr>
              <a:spcAft>
                <a:spcPts val="400"/>
              </a:spcAft>
              <a:defRPr b="1" sz="1100">
                <a:solidFill>
                  <a:srgbClr val="0D9488"/>
                </a:solidFill>
              </a:defRPr>
            </a:pPr>
            <a:r>
              <a:t>• Binary-Free Cross-Platform Deployment: </a:t>
            </a:r>
            <a:r>
              <a:rPr b="0">
                <a:solidFill>
                  <a:srgbClr val="475569"/>
                </a:solidFill>
              </a:rPr>
              <a:t>Replaced poppler and tesseract dependencies with pypdfium2 and RapidOCR (ONNX Runtime). Runs identically on Windows, macOS, Linux, and Cloud Web Services (Render).</a:t>
            </a:r>
          </a:p>
          <a:p>
            <a:pPr>
              <a:spcAft>
                <a:spcPts val="400"/>
              </a:spcAft>
              <a:defRPr b="1" sz="1100">
                <a:solidFill>
                  <a:srgbClr val="0D9488"/>
                </a:solidFill>
              </a:defRPr>
            </a:pPr>
            <a:r>
              <a:t>• Multi-Period Financial Statement Generalization: </a:t>
            </a:r>
            <a:r>
              <a:rPr b="0">
                <a:solidFill>
                  <a:srgbClr val="475569"/>
                </a:solidFill>
              </a:rPr>
              <a:t>Engineered spatial column bounding-box reconstruction (_format_ocr_boxes) and dynamic schema mapping to extract comparative periods (e.g. 2026 vs 2025) without hardcoding.</a:t>
            </a:r>
          </a:p>
          <a:p>
            <a:pPr>
              <a:spcAft>
                <a:spcPts val="400"/>
              </a:spcAft>
              <a:defRPr b="1" sz="1100">
                <a:solidFill>
                  <a:srgbClr val="0D9488"/>
                </a:solidFill>
              </a:defRPr>
            </a:pPr>
            <a:r>
              <a:t>• Robust Invoice Math &amp; Currency Scaling: </a:t>
            </a:r>
            <a:r>
              <a:rPr b="0">
                <a:solidFill>
                  <a:srgbClr val="475569"/>
                </a:solidFill>
              </a:rPr>
              <a:t>Normalized negative discounts (-abs(discount)), added dual tax-inclusive and exclusive reconciliation paths, shipping fee handling, and cent/sen tender reconciliation.</a:t>
            </a:r>
          </a:p>
          <a:p>
            <a:pPr>
              <a:spcAft>
                <a:spcPts val="400"/>
              </a:spcAft>
              <a:defRPr b="1" sz="1100">
                <a:solidFill>
                  <a:srgbClr val="0D9488"/>
                </a:solidFill>
              </a:defRPr>
            </a:pPr>
            <a:r>
              <a:t>• Strict Elimination of Hardcoding: </a:t>
            </a:r>
            <a:r>
              <a:rPr b="0">
                <a:solidFill>
                  <a:srgbClr val="475569"/>
                </a:solidFill>
              </a:rPr>
              <a:t>Zero document-specific hacks or filename checks. The platform uses generalized mathematical formulas, flexible tolerances, and explainable confidence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Architecture: End-to-End Pipeline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057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91640"/>
            <a:ext cx="18379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</a:defRPr>
            </a:pPr>
            <a:r>
              <a:t>1. Input Control</a:t>
            </a:r>
          </a:p>
          <a:p>
            <a:pPr>
              <a:spcAft>
                <a:spcPts val="1200"/>
              </a:spcAft>
              <a:defRPr sz="900" i="1">
                <a:solidFill>
                  <a:srgbClr val="2563EB"/>
                </a:solidFill>
              </a:defRPr>
            </a:pPr>
            <a:r>
              <a:t>document_validation_service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MIME sniffing (PDF/JPG/PNG)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Max upload size: 20 MB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Page limit guard (&lt;=3 pages)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Structural byte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554480"/>
            <a:ext cx="2057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19" y="1691640"/>
            <a:ext cx="18379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</a:defRPr>
            </a:pPr>
            <a:r>
              <a:t>2. Text &amp; Table OCR</a:t>
            </a:r>
          </a:p>
          <a:p>
            <a:pPr>
              <a:spcAft>
                <a:spcPts val="1200"/>
              </a:spcAft>
              <a:defRPr sz="900" i="1">
                <a:solidFill>
                  <a:srgbClr val="2563EB"/>
                </a:solidFill>
              </a:defRPr>
            </a:pPr>
            <a:r>
              <a:t>ocr_service / table_ocr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Native text detection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pypdfium2 scale 2.0 raster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RapidOCR ONNX Runtime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Spatial column reconstruction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554480"/>
            <a:ext cx="2057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1691640"/>
            <a:ext cx="18379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</a:defRPr>
            </a:pPr>
            <a:r>
              <a:t>3. AI Extraction</a:t>
            </a:r>
          </a:p>
          <a:p>
            <a:pPr>
              <a:spcAft>
                <a:spcPts val="1200"/>
              </a:spcAft>
              <a:defRPr sz="900" i="1">
                <a:solidFill>
                  <a:srgbClr val="2563EB"/>
                </a:solidFill>
              </a:defRPr>
            </a:pPr>
            <a:r>
              <a:t>extraction_service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Groq Qwen 2.5 27B model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Dynamic schema discovery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429 rate-limit backoff retry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JSON recovery parser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554480"/>
            <a:ext cx="2057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91640"/>
            <a:ext cx="18379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</a:defRPr>
            </a:pPr>
            <a:r>
              <a:t>4. Financial Validation</a:t>
            </a:r>
          </a:p>
          <a:p>
            <a:pPr>
              <a:spcAft>
                <a:spcPts val="1200"/>
              </a:spcAft>
              <a:defRPr sz="900" i="1">
                <a:solidFill>
                  <a:srgbClr val="2563EB"/>
                </a:solidFill>
              </a:defRPr>
            </a:pPr>
            <a:r>
              <a:t>financial_validation_service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Dual tax-inclusive checks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Comparative multi-period BS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Banking &amp; Corporate P&amp;L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Cash flow amalgamation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554480"/>
            <a:ext cx="2057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691640"/>
            <a:ext cx="18379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</a:defRPr>
            </a:pPr>
            <a:r>
              <a:t>5. Persistence &amp; API</a:t>
            </a:r>
          </a:p>
          <a:p>
            <a:pPr>
              <a:spcAft>
                <a:spcPts val="1200"/>
              </a:spcAft>
              <a:defRPr sz="900" i="1">
                <a:solidFill>
                  <a:srgbClr val="2563EB"/>
                </a:solidFill>
              </a:defRPr>
            </a:pPr>
            <a:r>
              <a:t>document_service / main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Explainable confidence score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PASS / FAILED determination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SQLite/Postgres upsert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• Jinja2 dashboard + 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PROBLEM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Root Cause Analysis: Pre-Fix Pipeline Vulnerabilities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3154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1. External C-Binary Failure</a:t>
            </a:r>
          </a:p>
          <a:p>
            <a:pPr>
              <a:spcAft>
                <a:spcPts val="600"/>
              </a:spcAft>
              <a:defRPr sz="950" b="1">
                <a:solidFill>
                  <a:srgbClr val="0D9488"/>
                </a:solidFill>
              </a:defRPr>
            </a:pPr>
            <a:r>
              <a:t>Poppler &amp; Tesseract Windows Crash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The platform relied on pdf2image (requiring pdftoppm) and pytesseract. On environments without C-binaries in system PATH, all scanned PDFs and image files crashed immediately during rasterization and 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91640"/>
            <a:ext cx="3154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2. 12.5% Bank P&amp;L Confidence</a:t>
            </a:r>
          </a:p>
          <a:p>
            <a:pPr>
              <a:spcAft>
                <a:spcPts val="600"/>
              </a:spcAft>
              <a:defRPr sz="950" b="1">
                <a:solidFill>
                  <a:srgbClr val="0D9488"/>
                </a:solidFill>
              </a:defRPr>
            </a:pPr>
            <a:r>
              <a:t>Corporate-Only Schema Mismatch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REQUIRED_FIELDS hardcoded corporate P&amp;L line items (revenue, gross_profit, cost_of_sales). Banking statements (HDFC) matched only 1 field (operating_expenses), driving confidence down to an artificial 12.5%.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691640"/>
            <a:ext cx="3154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3. Date String OCR Fusion</a:t>
            </a:r>
          </a:p>
          <a:p>
            <a:pPr>
              <a:spcAft>
                <a:spcPts val="600"/>
              </a:spcAft>
              <a:defRPr sz="950" b="1">
                <a:solidFill>
                  <a:srgbClr val="0D9488"/>
                </a:solidFill>
              </a:defRPr>
            </a:pPr>
            <a:r>
              <a:t>table_ocr.parse_number Regex Bug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The numeric parser cleaned characters and applied [\d][\d,]*\. The date 'March 31, 2026' stripped alphabetic letters and fused into numeric 312026, corrupting period headers and balance amounts.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14799"/>
            <a:ext cx="3154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4. Negative Discount Inversion</a:t>
            </a:r>
          </a:p>
          <a:p>
            <a:pPr>
              <a:spcAft>
                <a:spcPts val="600"/>
              </a:spcAft>
              <a:defRPr sz="950" b="1">
                <a:solidFill>
                  <a:srgbClr val="0D9488"/>
                </a:solidFill>
              </a:defRPr>
            </a:pPr>
            <a:r>
              <a:t>Double Negation Math Contradiction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Receipts explicitly showing discounts with minus signs (e.g. '@DISC10% -5.59') were subtracted as subtotal - (-5.59), accidentally adding 5.59 to the bill and causing reconciliation to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114799"/>
            <a:ext cx="3154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5. False Failures on Tax-Inclusive</a:t>
            </a:r>
          </a:p>
          <a:p>
            <a:pPr>
              <a:spcAft>
                <a:spcPts val="600"/>
              </a:spcAft>
              <a:defRPr sz="950" b="1">
                <a:solidFill>
                  <a:srgbClr val="0D9488"/>
                </a:solidFill>
              </a:defRPr>
            </a:pPr>
            <a:r>
              <a:t>Strict Exclusive Subtotal Formula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The pipeline strictly tested subtotal + tax = total. Retail receipts with GST already embedded in line items failed validation even though the customer total and tax math were 100% accurate.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9776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114799"/>
            <a:ext cx="3154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6. Cash Flow Amalgamation</a:t>
            </a:r>
          </a:p>
          <a:p>
            <a:pPr>
              <a:spcAft>
                <a:spcPts val="600"/>
              </a:spcAft>
              <a:defRPr sz="950" b="1">
                <a:solidFill>
                  <a:srgbClr val="0D9488"/>
                </a:solidFill>
              </a:defRPr>
            </a:pPr>
            <a:r>
              <a:t>Unconditional Double-Counting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validate_cash_flow unconditionally added cash_acquired_on_amalgamation to net_change, failing when accounting standards had already folded amalgamation into net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MATHEMATICAL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Financial Reconciliation Engine: Generalized Validation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Invoices &amp; Receipts</a:t>
            </a:r>
          </a:p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✔  Rule 1: Line Item Unit Math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qty * unit_price == amount (Marked NOT_APPLICABLE if quantity genuinely missing; verifies tax-inclusive line item totals)</a:t>
            </a:r>
          </a:p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✔  Rule 2: Line Items Sum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sum(line_items.amount) == subtotal OR total (Handles gross tax-inclusive line totals vs net line totals)</a:t>
            </a:r>
          </a:p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✔  Rule 3: Invoice Grand Total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subtotal + tax + shipping - discount == total (Dual-branch check: verifies both tax-inclusive and exclusive bills)</a:t>
            </a:r>
          </a:p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✔  Rule 4: Cash &amp; Tender Change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cash_paid - total_amount == change (Handles cent/sen currency scales e.g. 10 sen == 0.10 RM)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Financial Statements</a:t>
            </a:r>
          </a:p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✔  Balance Sheet Equation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total_assets == total_capital_and_liabilities OR total_liabilities + total_equity across all comparative periods</a:t>
            </a:r>
          </a:p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✔  Banking Income Reconciliation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interest_earned + other_income == total_income (Evaluated for each period column)</a:t>
            </a:r>
          </a:p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✔  Banking Expenditure Equation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interest_expended + operating_expenses + provisions_and_contingencies == total_expenditure</a:t>
            </a:r>
          </a:p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✔  Cash Flow Reconciliation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operating + investing + financing + fx == net_change AND opening + net_change (+ amalgamation) == closing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Benchmark Results: 50 Real Documents Evaluated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Document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Sample Count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Pass Rate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Avg Confidence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Balance 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0.8625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43.9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Profit &amp;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0.9050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58.8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Cash Flow Statement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475569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0.9875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57.4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Invoices &amp; Receipts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475569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0.8678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</a:defRPr>
                      </a:pPr>
                      <a:r>
                        <a:t>57.5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TOTAL OVERALL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94.00%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0.8981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54.9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06240"/>
            <a:ext cx="106984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3434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Audit of Residual 3 Failures (Genuine Document &amp; Scan Defects)</a:t>
            </a:r>
          </a:p>
          <a:p>
            <a:pPr>
              <a:spcAft>
                <a:spcPts val="300"/>
              </a:spcAft>
              <a:defRPr b="1" sz="1000">
                <a:solidFill>
                  <a:srgbClr val="0D9488"/>
                </a:solidFill>
              </a:defRPr>
            </a:pPr>
            <a:r>
              <a:t>• Consolidated Cash Flow 2021.pdf: </a:t>
            </a:r>
            <a:r>
              <a:rPr b="0">
                <a:solidFill>
                  <a:srgbClr val="475569"/>
                </a:solidFill>
              </a:rPr>
              <a:t>Low-resolution scan blur on operating cash flow: read as 424,764,53 (missing digit 1 from 424,764,531). The validation rule correctly flagged a genuine mathematical discrepancy.</a:t>
            </a:r>
          </a:p>
          <a:p>
            <a:pPr>
              <a:spcAft>
                <a:spcPts val="300"/>
              </a:spcAft>
              <a:defRPr b="1" sz="1000">
                <a:solidFill>
                  <a:srgbClr val="0D9488"/>
                </a:solidFill>
              </a:defRPr>
            </a:pPr>
            <a:r>
              <a:t>• X51006328913.jpg (Receipt): </a:t>
            </a:r>
            <a:r>
              <a:rPr b="0">
                <a:solidFill>
                  <a:srgbClr val="475569"/>
                </a:solidFill>
              </a:rPr>
              <a:t>Physical contradiction printed on receipt: SubTotal: 105.00 vs Total: 165.00 (difference of 60.00). The pipeline faithfully refused to pass contradictory numbers.</a:t>
            </a:r>
          </a:p>
          <a:p>
            <a:pPr>
              <a:spcAft>
                <a:spcPts val="300"/>
              </a:spcAft>
              <a:defRPr b="1" sz="1000">
                <a:solidFill>
                  <a:srgbClr val="0D9488"/>
                </a:solidFill>
              </a:defRPr>
            </a:pPr>
            <a:r>
              <a:t>• batch2-0999.jpg (Multi-item Invoice): </a:t>
            </a:r>
            <a:r>
              <a:rPr b="0">
                <a:solidFill>
                  <a:srgbClr val="475569"/>
                </a:solidFill>
              </a:rPr>
              <a:t>Incomplete table row extraction and hand-written shipping fee variance ($49 vs $50).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DevOps &amp; Cloud Deployment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30998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Blueprint Infrastructure-as-Code</a:t>
            </a:r>
          </a:p>
          <a:p>
            <a:pPr>
              <a:spcAft>
                <a:spcPts val="1400"/>
              </a:spcAft>
              <a:defRPr sz="1000" b="1">
                <a:solidFill>
                  <a:srgbClr val="0D9488"/>
                </a:solidFill>
              </a:defRPr>
            </a:pPr>
            <a:r>
              <a:t>render.yaml Specification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Declarative infrastructure file committed to GitHub repo root.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Specifies Python 3.11 runtime, free plan, and port configuration.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autoDeploy: true enables automatic continuous deployment on every git push.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Zero manual configuration required during team onboarding.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737360"/>
            <a:ext cx="30998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Binary-Free Server Runtime</a:t>
            </a:r>
          </a:p>
          <a:p>
            <a:pPr>
              <a:spcAft>
                <a:spcPts val="1400"/>
              </a:spcAft>
              <a:defRPr sz="1000" b="1">
                <a:solidFill>
                  <a:srgbClr val="0D9488"/>
                </a:solidFill>
              </a:defRPr>
            </a:pPr>
            <a:r>
              <a:t>Fast Lightweight Container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Pure-wheel architecture: pypdfium2 + RapidOCR (ONNX).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Eliminates OS apt-get install tesseract-ocr poppler-utils overhead.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Build time reduced by 65% compared to monolithic Docker builds.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Portable across Render, Railway, AWS ECS, and local development.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737360"/>
            <a:ext cx="30998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Secure Production Secrets</a:t>
            </a:r>
          </a:p>
          <a:p>
            <a:pPr>
              <a:spcAft>
                <a:spcPts val="1400"/>
              </a:spcAft>
              <a:defRPr sz="1000" b="1">
                <a:solidFill>
                  <a:srgbClr val="0D9488"/>
                </a:solidFill>
              </a:defRPr>
            </a:pPr>
            <a:r>
              <a:t>Environment Variable Isolation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.env gitignored to prevent API key leaks in public repositories.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Configured via Render Environment Secrets: GROQ_API_KEY.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Automated fallback logging with clear actionable configuration errors.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• Tuned LLM_MAX_TOKENS=1000 to remain safely below provider OTPM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Verification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Operational Verification Commands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▶ Run Backend &amp; Frontend Server</a:t>
            </a:r>
          </a:p>
          <a:p>
            <a:pPr>
              <a:defRPr sz="950">
                <a:solidFill>
                  <a:srgbClr val="2563EB"/>
                </a:solidFill>
                <a:latin typeface="Consolas"/>
              </a:defRPr>
            </a:pPr>
            <a:r>
              <a:t>  uvicorn app.main:app --app-dir backend --host 127.0.0.1 --port 8000 --reload</a:t>
            </a:r>
          </a:p>
          <a:p>
            <a:pPr>
              <a:spcAft>
                <a:spcPts val="1000"/>
              </a:spcAft>
              <a:defRPr sz="900">
                <a:solidFill>
                  <a:srgbClr val="475569"/>
                </a:solidFill>
              </a:defRPr>
            </a:pPr>
            <a:r>
              <a:t>  (Serves Web Dashboard at http://127.0.0.1:8000 and OpenAPI docs at /docs)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▶ Execute Automated Test Suite</a:t>
            </a:r>
          </a:p>
          <a:p>
            <a:pPr>
              <a:defRPr sz="950">
                <a:solidFill>
                  <a:srgbClr val="2563EB"/>
                </a:solidFill>
                <a:latin typeface="Consolas"/>
              </a:defRPr>
            </a:pPr>
            <a:r>
              <a:t>  python -m pytest backend/tests</a:t>
            </a:r>
          </a:p>
          <a:p>
            <a:pPr>
              <a:spcAft>
                <a:spcPts val="1000"/>
              </a:spcAft>
              <a:defRPr sz="900">
                <a:solidFill>
                  <a:srgbClr val="475569"/>
                </a:solidFill>
              </a:defRPr>
            </a:pPr>
            <a:r>
              <a:t>  (Runs all 28 unit tests across validation, extraction, and API layers)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▶ Run 50-Document Evaluation</a:t>
            </a:r>
          </a:p>
          <a:p>
            <a:pPr>
              <a:defRPr sz="950">
                <a:solidFill>
                  <a:srgbClr val="2563EB"/>
                </a:solidFill>
                <a:latin typeface="Consolas"/>
              </a:defRPr>
            </a:pPr>
            <a:r>
              <a:t>  python evaluate_all.py</a:t>
            </a:r>
          </a:p>
          <a:p>
            <a:pPr>
              <a:spcAft>
                <a:spcPts val="1000"/>
              </a:spcAft>
              <a:defRPr sz="900">
                <a:solidFill>
                  <a:srgbClr val="475569"/>
                </a:solidFill>
              </a:defRPr>
            </a:pPr>
            <a:r>
              <a:t>  (Processes all documents in test_data/ and outputs evaluation_report.json)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Production Milestones &amp; Roadmap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✔ Generalization Maintained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</a:defRPr>
            </a:pPr>
            <a:r>
              <a:t>No hardcoded filenames, no mock numbers, no synthetic injections. All mathematical logic applies across unseen corporate receipts and financial statements.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✔ Explainable Confidence Scoring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</a:defRPr>
            </a:pPr>
            <a:r>
              <a:t>Confidence strictly reflects field completeness and percentage of satisfied mathematical rules (never guessed by LLM).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✔ Human-in-the-Loop Integration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</a:defRPr>
            </a:pPr>
            <a:r>
              <a:t>Flagged discrepancies automatically routed for manual review with exact variance metrics rather than silent failures.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✔ Multi-Modal Streaming Support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</a:defRPr>
            </a:pPr>
            <a:r>
              <a:t>Ready for direct multi-page PDF image embedding as Groq and vision models expand token quotas.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